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 dirty="0"/>
    </a:defPPr>
    <a:lvl1pPr marL="0" algn="l" defTabSz="457200" rtl="0" eaLnBrk="1" latinLnBrk="0" hangingPunct="1">
      <a:defRPr sz="1800" kern="1200">
        <a:solidFill>
          <a:schemeClr val="tx1"/>
        </a:solidFill>
        <a:latin typeface="Calibri"/>
        <a:ea typeface="等线"/>
        <a:cs typeface="Calibri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130425"/>
            <a:ext cx="10515600" cy="1524000"/>
          </a:xfrm>
        </p:spPr>
        <p:txBody>
          <a:bodyPr wrap="square" anchor="ctr"/>
          <a:lstStyle/>
          <a:p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810000"/>
            <a:ext cx="9601200" cy="1470025"/>
          </a:xfrm>
        </p:spPr>
        <p:txBody>
          <a:bodyPr wrap="square" anchor="t"/>
          <a:lstStyle/>
          <a:p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143000"/>
          </a:xfrm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3" name="正文占位符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25963"/>
          </a:xfrm>
        </p:spPr>
        <p:txBody>
          <a:bodyPr wrap="square" lIns="91440" tIns="45720" rIns="91440" bIns="45720" anchor="t"/>
          <a:lstStyle/>
          <a:p>
            <a:pPr marL="342900" indent="-342900">
              <a:buFont typeface="Arial"/>
              <a:buChar char="•"/>
            </a:pPr>
            <a:endParaRPr 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143000"/>
          </a:xfrm>
        </p:spPr>
        <p:txBody>
          <a:bodyPr wrap="square" lIns="91440" tIns="45720" rIns="91440" bIns="45720" anchor="t"/>
          <a:lstStyle/>
          <a:p>
            <a:r>
              <a:rPr lang="zh-CN" altLang="en-US" sz="36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单击此处编辑母版标题样式</a:t>
            </a:r>
          </a:p>
        </p:txBody>
      </p:sp>
      <p:sp>
        <p:nvSpPr>
          <p:cNvPr id="3" name="正文占位符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</p:spPr>
        <p:txBody>
          <a:bodyPr wrap="square" lIns="91440" tIns="45720" rIns="91440" bIns="45720" anchor="t"/>
          <a:lstStyle/>
          <a:p>
            <a:r>
              <a:rPr lang="zh-CN" altLang="en-US" sz="1800" dirty="0">
                <a:solidFill>
                  <a:schemeClr val="tx1"/>
                </a:solidFill>
                <a:latin typeface="Calibri"/>
                <a:ea typeface="等线"/>
                <a:cs typeface="Calibri"/>
              </a:rPr>
              <a:t>单击此处编辑母版文本样式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defRPr sz="3600" kern="1200">
          <a:solidFill>
            <a:schemeClr val="tx1"/>
          </a:solidFill>
          <a:latin typeface="Calibri"/>
          <a:ea typeface="等线"/>
          <a:cs typeface="Calibri"/>
        </a:defRPr>
      </a:lvl1pPr>
    </p:titleStyle>
    <p:bodyStyle>
      <a:lvl1pPr marL="342900" indent="-342900" algn="l" defTabSz="914400" rtl="0" eaLnBrk="1" latinLnBrk="0" hangingPunct="1">
        <a:defRPr sz="1800" kern="1200">
          <a:solidFill>
            <a:schemeClr val="tx1"/>
          </a:solidFill>
          <a:latin typeface="Calibri"/>
          <a:ea typeface="等线"/>
          <a:cs typeface="Calibri"/>
        </a:defRPr>
      </a:lvl1pPr>
      <a:lvl2pPr marL="685800" indent="-342900" algn="l" defTabSz="914400" rtl="0" eaLnBrk="1" latinLnBrk="0" hangingPunct="1">
        <a:defRPr sz="1600" kern="1200">
          <a:solidFill>
            <a:schemeClr val="tx1"/>
          </a:solidFill>
          <a:latin typeface="Calibri"/>
          <a:ea typeface="等线"/>
          <a:cs typeface="Calibri"/>
        </a:defRPr>
      </a:lvl2pPr>
    </p:bodyStyle>
    <p:otherStyle>
      <a:defPPr>
        <a:defRPr lang="zh-CN" dirty="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Calibri"/>
          <a:ea typeface="等线"/>
          <a:cs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色带"/>
          <p:cNvSpPr/>
          <p:nvPr/>
        </p:nvSpPr>
        <p:spPr>
          <a:xfrm>
            <a:off x="0" y="0"/>
            <a:ext cx="300000" cy="6858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4" name="装饰块"/>
          <p:cNvSpPr/>
          <p:nvPr/>
        </p:nvSpPr>
        <p:spPr>
          <a:xfrm>
            <a:off x="10092000" y="5958000"/>
            <a:ext cx="1500000" cy="260000"/>
          </a:xfrm>
          <a:prstGeom prst="roundRect">
            <a:avLst>
              <a:gd name="adj" fmla="val 50000"/>
            </a:avLst>
          </a:prstGeom>
          <a:solidFill>
            <a:srgbClr val="DCF0F0"/>
          </a:solidFill>
          <a:ln>
            <a:noFill/>
          </a:ln>
        </p:spPr>
      </p:sp>
      <p:sp>
        <p:nvSpPr>
          <p:cNvPr id="5" name="主标题"/>
          <p:cNvSpPr txBox="1"/>
          <p:nvPr/>
        </p:nvSpPr>
        <p:spPr>
          <a:xfrm>
            <a:off x="1138200" y="2180000"/>
            <a:ext cx="96156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>
              <a:lnSpc>
                <a:spcPct val="112000"/>
              </a:lnSpc>
              <a:buNone/>
            </a:pPr>
            <a:r>
              <a:rPr lang="zh-CN" altLang="en-US" sz="4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手机版 DSH 的一页纸说明</a:t>
            </a:r>
          </a:p>
        </p:txBody>
      </p:sp>
      <p:sp>
        <p:nvSpPr>
          <p:cNvPr id="6" name="副标题"/>
          <p:cNvSpPr txBox="1"/>
          <p:nvPr/>
        </p:nvSpPr>
        <p:spPr>
          <a:xfrm>
            <a:off x="1138200" y="3740000"/>
            <a:ext cx="96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从 0.75 到现在的这一批改动</a:t>
            </a:r>
          </a:p>
        </p:txBody>
      </p:sp>
      <p:sp>
        <p:nvSpPr>
          <p:cNvPr id="7" name="细线"/>
          <p:cNvSpPr/>
          <p:nvPr/>
        </p:nvSpPr>
        <p:spPr>
          <a:xfrm>
            <a:off x="1138200" y="3620000"/>
            <a:ext cx="900000" cy="42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8" name="署名"/>
          <p:cNvSpPr txBox="1"/>
          <p:nvPr/>
        </p:nvSpPr>
        <p:spPr>
          <a:xfrm>
            <a:off x="1138200" y="4900000"/>
            <a:ext cx="96156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buNone/>
            </a:pPr>
            <a:r>
              <a:rPr lang="zh-CN" altLang="en-US" sz="12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泡泡猫 DSH　·　2026-10-16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今天讲三件事</a:t>
            </a:r>
          </a:p>
        </p:txBody>
      </p:sp>
      <p:sp>
        <p:nvSpPr>
          <p:cNvPr id="4" name="序号 1"/>
          <p:cNvSpPr txBox="1"/>
          <p:nvPr/>
        </p:nvSpPr>
        <p:spPr>
          <a:xfrm>
            <a:off x="838200" y="1760000"/>
            <a:ext cx="520000" cy="52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01</a:t>
            </a:r>
          </a:p>
        </p:txBody>
      </p:sp>
      <p:sp>
        <p:nvSpPr>
          <p:cNvPr id="5" name="条目 1"/>
          <p:cNvSpPr txBox="1"/>
          <p:nvPr/>
        </p:nvSpPr>
        <p:spPr>
          <a:xfrm>
            <a:off x="1478200" y="1720000"/>
            <a:ext cx="98756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一、免 Key 通道</a:t>
            </a:r>
          </a:p>
          <a:p>
            <a:pPr>
              <a:buNone/>
            </a:pPr>
            <a:r>
              <a:rPr lang="zh-CN" altLang="en-US" sz="14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为什么换、现在谁在服务</a:t>
            </a:r>
          </a:p>
        </p:txBody>
      </p:sp>
      <p:sp>
        <p:nvSpPr>
          <p:cNvPr id="6" name="序号 2"/>
          <p:cNvSpPr txBox="1"/>
          <p:nvPr/>
        </p:nvSpPr>
        <p:spPr>
          <a:xfrm>
            <a:off x="838200" y="2520000"/>
            <a:ext cx="520000" cy="52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02</a:t>
            </a:r>
          </a:p>
        </p:txBody>
      </p:sp>
      <p:sp>
        <p:nvSpPr>
          <p:cNvPr id="7" name="条目 2"/>
          <p:cNvSpPr txBox="1"/>
          <p:nvPr/>
        </p:nvSpPr>
        <p:spPr>
          <a:xfrm>
            <a:off x="1478200" y="2480000"/>
            <a:ext cx="98756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二、通道自检</a:t>
            </a:r>
          </a:p>
          <a:p>
            <a:pPr>
              <a:buNone/>
            </a:pPr>
            <a:r>
              <a:rPr lang="zh-CN" altLang="en-US" sz="14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怎么分清五种失败</a:t>
            </a:r>
          </a:p>
        </p:txBody>
      </p:sp>
      <p:sp>
        <p:nvSpPr>
          <p:cNvPr id="8" name="序号 3"/>
          <p:cNvSpPr txBox="1"/>
          <p:nvPr/>
        </p:nvSpPr>
        <p:spPr>
          <a:xfrm>
            <a:off x="838200" y="3280000"/>
            <a:ext cx="520000" cy="52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03</a:t>
            </a:r>
          </a:p>
        </p:txBody>
      </p:sp>
      <p:sp>
        <p:nvSpPr>
          <p:cNvPr id="9" name="条目 3"/>
          <p:cNvSpPr txBox="1"/>
          <p:nvPr/>
        </p:nvSpPr>
        <p:spPr>
          <a:xfrm>
            <a:off x="1478200" y="3240000"/>
            <a:ext cx="98756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三、原生 PPT</a:t>
            </a:r>
          </a:p>
          <a:p>
            <a:pPr>
              <a:buNone/>
            </a:pPr>
            <a:r>
              <a:rPr lang="zh-CN" altLang="en-US" sz="14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手机里直接生成能改的幻灯片</a:t>
            </a:r>
          </a:p>
        </p:txBody>
      </p:sp>
      <p:sp>
        <p:nvSpPr>
          <p:cNvPr id="10" name="序号 4"/>
          <p:cNvSpPr txBox="1"/>
          <p:nvPr/>
        </p:nvSpPr>
        <p:spPr>
          <a:xfrm>
            <a:off x="838200" y="4040000"/>
            <a:ext cx="520000" cy="52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04</a:t>
            </a:r>
          </a:p>
        </p:txBody>
      </p:sp>
      <p:sp>
        <p:nvSpPr>
          <p:cNvPr id="11" name="条目 4"/>
          <p:cNvSpPr txBox="1"/>
          <p:nvPr/>
        </p:nvSpPr>
        <p:spPr>
          <a:xfrm>
            <a:off x="1478200" y="4000000"/>
            <a:ext cx="98756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四、下一步</a:t>
            </a:r>
          </a:p>
          <a:p>
            <a:pPr>
              <a:buNone/>
            </a:pPr>
            <a:r>
              <a:rPr lang="zh-CN" altLang="en-US" sz="14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还没做的两件事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2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6165"/>
          </a:solidFill>
          <a:ln>
            <a:noFill/>
          </a:ln>
        </p:spPr>
      </p:sp>
      <p:sp>
        <p:nvSpPr>
          <p:cNvPr id="3" name="大号数字"/>
          <p:cNvSpPr txBox="1"/>
          <p:nvPr/>
        </p:nvSpPr>
        <p:spPr>
          <a:xfrm>
            <a:off x="838200" y="1500000"/>
            <a:ext cx="22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>
              <a:buNone/>
            </a:pPr>
            <a:r>
              <a:rPr lang="zh-CN" altLang="en-US" sz="7200" b="1" dirty="0">
                <a:solidFill>
                  <a:srgbClr val="DCF0F0"/>
                </a:solidFill>
                <a:latin typeface="Calibri"/>
                <a:ea typeface="等线"/>
                <a:cs typeface="Calibri"/>
              </a:rPr>
              <a:t xml:space="preserve">01</a:t>
            </a:r>
          </a:p>
        </p:txBody>
      </p:sp>
      <p:sp>
        <p:nvSpPr>
          <p:cNvPr id="4" name="章节标题"/>
          <p:cNvSpPr txBox="1"/>
          <p:nvPr/>
        </p:nvSpPr>
        <p:spPr>
          <a:xfrm>
            <a:off x="838200" y="3200000"/>
            <a:ext cx="105156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5000"/>
              </a:lnSpc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免 Key 通道</a:t>
            </a:r>
          </a:p>
        </p:txBody>
      </p:sp>
      <p:sp>
        <p:nvSpPr>
          <p:cNvPr id="5" name="章节说明"/>
          <p:cNvSpPr txBox="1"/>
          <p:nvPr/>
        </p:nvSpPr>
        <p:spPr>
          <a:xfrm>
            <a:off x="838200" y="4300000"/>
            <a:ext cx="95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35000"/>
              </a:lnSpc>
              <a:buNone/>
            </a:pPr>
            <a:r>
              <a:rPr lang="zh-CN" altLang="en-US" sz="1500" dirty="0">
                <a:solidFill>
                  <a:srgbClr val="DCF0F0"/>
                </a:solidFill>
                <a:latin typeface="Calibri"/>
                <a:ea typeface="等线"/>
                <a:cs typeface="Calibri"/>
              </a:rPr>
              <a:t xml:space="preserve">兑现「不用填 Key 就能聊」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眉题"/>
          <p:cNvSpPr txBox="1"/>
          <p:nvPr/>
        </p:nvSpPr>
        <p:spPr>
          <a:xfrm>
            <a:off x="838200" y="590000"/>
            <a:ext cx="105156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>
              <a:buNone/>
            </a:pPr>
            <a:r>
              <a:rPr lang="zh-CN" altLang="en-US" sz="1100" b="1" dirty="0">
                <a:solidFill>
                  <a:srgbClr val="0E8A8F"/>
                </a:solidFill>
                <a:spc val="120"/>
                <a:latin typeface="Calibri"/>
                <a:ea typeface="等线"/>
                <a:cs typeface="Calibri"/>
              </a:rPr>
              <a:t xml:space="preserve">背景</a:t>
            </a:r>
          </a:p>
        </p:txBody>
      </p:sp>
      <p:sp>
        <p:nvSpPr>
          <p:cNvPr id="3" name="标题条"/>
          <p:cNvSpPr/>
          <p:nvPr/>
        </p:nvSpPr>
        <p:spPr>
          <a:xfrm>
            <a:off x="838200" y="10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4" name="标题"/>
          <p:cNvSpPr txBox="1"/>
          <p:nvPr/>
        </p:nvSpPr>
        <p:spPr>
          <a:xfrm>
            <a:off x="1038200" y="9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做了什么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838200" y="1880000"/>
            <a:ext cx="10515600" cy="40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OpenCode Zen 的匿名车道 2026-09-16 起被上游改过 6 次门禁</a:t>
            </a:r>
          </a:p>
          <a:p>
            <a:pPr marL="5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–"/>
            </a:pPr>
            <a:r>
              <a:rPr lang="zh-CN" altLang="en-US" sz="165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端点从 /zen/v1 搬到 /inference/v1</a:t>
            </a:r>
          </a:p>
          <a:p>
            <a:pPr marL="5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–"/>
            </a:pPr>
            <a:r>
              <a:rPr lang="zh-CN" altLang="en-US" sz="165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会话头、工具指纹（从两个涨到四个）、UA 版本带都换过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所以把承诺迁到</a:t>
            </a:r>
            <a:r>
              <a:rPr lang="zh-CN" altLang="en-US" sz="1800" b="1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它自己就开放匿名层</a:t>
            </a: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的 Pollinations</a:t>
            </a:r>
          </a:p>
          <a:p>
            <a:pPr marL="5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–"/>
            </a:pPr>
            <a:r>
              <a:rPr lang="zh-CN" altLang="en-US" sz="165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不需要注册、不需要 Key、默认打开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4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两条免 Key 通道</a:t>
            </a:r>
          </a:p>
        </p:txBody>
      </p:sp>
      <p:sp>
        <p:nvSpPr>
          <p:cNvPr id="4" name="对比底 1"/>
          <p:cNvSpPr/>
          <p:nvPr/>
        </p:nvSpPr>
        <p:spPr>
          <a:xfrm>
            <a:off x="838200" y="1720000"/>
            <a:ext cx="5127800" cy="4240000"/>
          </a:xfrm>
          <a:prstGeom prst="roundRect">
            <a:avLst>
              <a:gd name="adj" fmla="val 6000"/>
            </a:avLst>
          </a:prstGeom>
          <a:solidFill>
            <a:srgbClr val="DCF0F0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5" name="对比标题 1"/>
          <p:cNvSpPr txBox="1"/>
          <p:nvPr/>
        </p:nvSpPr>
        <p:spPr>
          <a:xfrm>
            <a:off x="1098200" y="1920000"/>
            <a:ext cx="46078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>
              <a:buNone/>
            </a:pPr>
            <a:r>
              <a:rPr lang="zh-CN" altLang="en-US" sz="1800" b="1" dirty="0">
                <a:solidFill>
                  <a:srgbClr val="0E8A8F"/>
                </a:solidFill>
                <a:latin typeface="Calibri"/>
                <a:ea typeface="等线"/>
                <a:cs typeface="Calibri"/>
              </a:rPr>
              <a:t xml:space="preserve">Pollinations（默认开）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1098200" y="2520000"/>
            <a:ext cx="4607800" cy="3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上游自己就开放匿名层</a:t>
            </a:r>
          </a:p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一个 20B 级模型</a:t>
            </a:r>
          </a:p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不需要本地代理</a:t>
            </a:r>
          </a:p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稳定优先</a:t>
            </a:r>
          </a:p>
        </p:txBody>
      </p:sp>
      <p:sp>
        <p:nvSpPr>
          <p:cNvPr id="7" name="对比底 2"/>
          <p:cNvSpPr/>
          <p:nvPr/>
        </p:nvSpPr>
        <p:spPr>
          <a:xfrm>
            <a:off x="6226000" y="1720000"/>
            <a:ext cx="5127800" cy="4240000"/>
          </a:xfrm>
          <a:prstGeom prst="roundRect">
            <a:avLst>
              <a:gd name="adj" fmla="val 6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8" name="对比标题 2"/>
          <p:cNvSpPr txBox="1"/>
          <p:nvPr/>
        </p:nvSpPr>
        <p:spPr>
          <a:xfrm>
            <a:off x="6486000" y="1920000"/>
            <a:ext cx="4607800" cy="5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>
              <a:buNone/>
            </a:pPr>
            <a:r>
              <a:rPr lang="zh-CN" altLang="en-US" sz="180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OpenCode Zen（彩蛋）</a:t>
            </a:r>
          </a:p>
        </p:txBody>
      </p:sp>
      <p:sp>
        <p:nvSpPr>
          <p:cNvPr id="9" name="正文"/>
          <p:cNvSpPr txBox="1"/>
          <p:nvPr/>
        </p:nvSpPr>
        <p:spPr>
          <a:xfrm>
            <a:off x="6486000" y="2520000"/>
            <a:ext cx="4607800" cy="32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A6165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需要伪装成官方 CLI</a:t>
            </a:r>
          </a:p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A6165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免费层有更聪明的模型</a:t>
            </a:r>
          </a:p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A6165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经本机代理转发</a:t>
            </a:r>
          </a:p>
          <a:p>
            <a:pPr marL="260000" indent="-1200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A6165"/>
                </a:solidFill>
              </a:buClr>
              <a:buFont typeface="Arial"/>
              <a:buChar char="●"/>
            </a:pPr>
            <a:r>
              <a:rPr lang="zh-CN" altLang="en-US" sz="15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时好时坏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5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自检能给的五种结论</a:t>
            </a:r>
          </a:p>
        </p:txBody>
      </p:sp>
      <p:sp>
        <p:nvSpPr>
          <p:cNvPr id="4" name="卡片底 1"/>
          <p:cNvSpPr/>
          <p:nvPr/>
        </p:nvSpPr>
        <p:spPr>
          <a:xfrm>
            <a:off x="838200" y="1720000"/>
            <a:ext cx="3331867" cy="19900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5" name="卡片强调 1"/>
          <p:cNvSpPr/>
          <p:nvPr/>
        </p:nvSpPr>
        <p:spPr>
          <a:xfrm>
            <a:off x="858200" y="2078200"/>
            <a:ext cx="62000" cy="28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6" name="卡片文字 1"/>
          <p:cNvSpPr txBox="1"/>
          <p:nvPr/>
        </p:nvSpPr>
        <p:spPr>
          <a:xfrm>
            <a:off x="1158200" y="1940000"/>
            <a:ext cx="2811867" cy="15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连不上（网络）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超时 / DNS / 本机服务没起来</a:t>
            </a:r>
          </a:p>
        </p:txBody>
      </p:sp>
      <p:sp>
        <p:nvSpPr>
          <p:cNvPr id="7" name="卡片底 2"/>
          <p:cNvSpPr/>
          <p:nvPr/>
        </p:nvSpPr>
        <p:spPr>
          <a:xfrm>
            <a:off x="4430067" y="1720000"/>
            <a:ext cx="3331867" cy="19900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8" name="卡片强调 2"/>
          <p:cNvSpPr/>
          <p:nvPr/>
        </p:nvSpPr>
        <p:spPr>
          <a:xfrm>
            <a:off x="4450067" y="2078200"/>
            <a:ext cx="62000" cy="28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9" name="卡片文字 2"/>
          <p:cNvSpPr txBox="1"/>
          <p:nvPr/>
        </p:nvSpPr>
        <p:spPr>
          <a:xfrm>
            <a:off x="4750067" y="1940000"/>
            <a:ext cx="2811867" cy="15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403 门禁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上游把请求当成非官方客户端</a:t>
            </a:r>
          </a:p>
        </p:txBody>
      </p:sp>
      <p:sp>
        <p:nvSpPr>
          <p:cNvPr id="10" name="卡片底 3"/>
          <p:cNvSpPr/>
          <p:nvPr/>
        </p:nvSpPr>
        <p:spPr>
          <a:xfrm>
            <a:off x="8021933" y="1720000"/>
            <a:ext cx="3331867" cy="19900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11" name="卡片强调 3"/>
          <p:cNvSpPr/>
          <p:nvPr/>
        </p:nvSpPr>
        <p:spPr>
          <a:xfrm>
            <a:off x="8041933" y="2078200"/>
            <a:ext cx="62000" cy="28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12" name="卡片文字 3"/>
          <p:cNvSpPr txBox="1"/>
          <p:nvPr/>
        </p:nvSpPr>
        <p:spPr>
          <a:xfrm>
            <a:off x="8341933" y="1940000"/>
            <a:ext cx="2811867" cy="15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403 地区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出口地区被封，和请求形状无关</a:t>
            </a:r>
          </a:p>
        </p:txBody>
      </p:sp>
      <p:sp>
        <p:nvSpPr>
          <p:cNvPr id="13" name="卡片底 4"/>
          <p:cNvSpPr/>
          <p:nvPr/>
        </p:nvSpPr>
        <p:spPr>
          <a:xfrm>
            <a:off x="838200" y="3970000"/>
            <a:ext cx="3331867" cy="19900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14" name="卡片强调 4"/>
          <p:cNvSpPr/>
          <p:nvPr/>
        </p:nvSpPr>
        <p:spPr>
          <a:xfrm>
            <a:off x="858200" y="4328200"/>
            <a:ext cx="62000" cy="28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15" name="卡片文字 4"/>
          <p:cNvSpPr txBox="1"/>
          <p:nvPr/>
        </p:nvSpPr>
        <p:spPr>
          <a:xfrm>
            <a:off x="1158200" y="4190000"/>
            <a:ext cx="2811867" cy="15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404 退役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模型名换了，要重新拉清单</a:t>
            </a:r>
          </a:p>
        </p:txBody>
      </p:sp>
      <p:sp>
        <p:nvSpPr>
          <p:cNvPr id="16" name="卡片底 5"/>
          <p:cNvSpPr/>
          <p:nvPr/>
        </p:nvSpPr>
        <p:spPr>
          <a:xfrm>
            <a:off x="4430067" y="3970000"/>
            <a:ext cx="3331867" cy="19900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17" name="卡片强调 5"/>
          <p:cNvSpPr/>
          <p:nvPr/>
        </p:nvSpPr>
        <p:spPr>
          <a:xfrm>
            <a:off x="4450067" y="4328200"/>
            <a:ext cx="62000" cy="28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18" name="卡片文字 5"/>
          <p:cNvSpPr txBox="1"/>
          <p:nvPr/>
        </p:nvSpPr>
        <p:spPr>
          <a:xfrm>
            <a:off x="4750067" y="4190000"/>
            <a:ext cx="2811867" cy="15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401 / 429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Key 不对，或被限流</a:t>
            </a:r>
          </a:p>
        </p:txBody>
      </p:sp>
      <p:sp>
        <p:nvSpPr>
          <p:cNvPr id="19" name="卡片底 6"/>
          <p:cNvSpPr/>
          <p:nvPr/>
        </p:nvSpPr>
        <p:spPr>
          <a:xfrm>
            <a:off x="8021933" y="3970000"/>
            <a:ext cx="3331867" cy="1990000"/>
          </a:xfrm>
          <a:prstGeom prst="roundRect">
            <a:avLst>
              <a:gd name="adj" fmla="val 8000"/>
            </a:avLst>
          </a:prstGeom>
          <a:solidFill>
            <a:srgbClr val="EEF6F7"/>
          </a:solidFill>
          <a:ln w="9525" cap="flat" cmpd="sng" algn="ctr">
            <a:solidFill>
              <a:srgbClr val="D3E6E8"/>
            </a:solidFill>
            <a:prstDash val="solid"/>
            <a:miter lim="800000"/>
          </a:ln>
        </p:spPr>
      </p:sp>
      <p:sp>
        <p:nvSpPr>
          <p:cNvPr id="20" name="卡片强调 6"/>
          <p:cNvSpPr/>
          <p:nvPr/>
        </p:nvSpPr>
        <p:spPr>
          <a:xfrm>
            <a:off x="8041933" y="4328200"/>
            <a:ext cx="62000" cy="28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21" name="卡片文字 6"/>
          <p:cNvSpPr txBox="1"/>
          <p:nvPr/>
        </p:nvSpPr>
        <p:spPr>
          <a:xfrm>
            <a:off x="8341933" y="4190000"/>
            <a:ext cx="2811867" cy="159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spcAft>
                <a:spcPts val="400"/>
              </a:spcAft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5xx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上游自己出问题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6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这一路的六个节点</a:t>
            </a:r>
          </a:p>
        </p:txBody>
      </p:sp>
      <p:cxnSp>
        <p:nvCxnSpPr>
          <p:cNvPr id="4" name="轴线"/>
          <p:cNvCxnSpPr/>
          <p:nvPr/>
        </p:nvCxnSpPr>
        <p:spPr>
          <a:xfrm>
            <a:off x="1889760" y="2620000"/>
            <a:ext cx="8412480" cy="1"/>
          </a:xfrm>
          <a:prstGeom prst="straightConnector1">
            <a:avLst/>
          </a:prstGeom>
          <a:ln w="25400" cap="flat" cmpd="sng" algn="ctr">
            <a:solidFill>
              <a:srgbClr val="D3E6E8"/>
            </a:solidFill>
            <a:prstDash val="solid"/>
            <a:miter lim="800000"/>
          </a:ln>
        </p:spPr>
      </p:cxnSp>
      <p:sp>
        <p:nvSpPr>
          <p:cNvPr id="5" name="节点 1"/>
          <p:cNvSpPr/>
          <p:nvPr/>
        </p:nvSpPr>
        <p:spPr>
          <a:xfrm>
            <a:off x="1739760" y="2470000"/>
            <a:ext cx="300000" cy="300000"/>
          </a:xfrm>
          <a:prstGeom prst="ellipse">
            <a:avLst/>
          </a:prstGeom>
          <a:solidFill>
            <a:srgbClr val="0E8A8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6" name="步骤说明 1"/>
          <p:cNvSpPr txBox="1"/>
          <p:nvPr/>
        </p:nvSpPr>
        <p:spPr>
          <a:xfrm>
            <a:off x="938200" y="2890000"/>
            <a:ext cx="1903120" cy="30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5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09-16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非官方形状一律 403</a:t>
            </a:r>
          </a:p>
        </p:txBody>
      </p:sp>
      <p:sp>
        <p:nvSpPr>
          <p:cNvPr id="7" name="节点 2"/>
          <p:cNvSpPr/>
          <p:nvPr/>
        </p:nvSpPr>
        <p:spPr>
          <a:xfrm>
            <a:off x="3842880" y="2470000"/>
            <a:ext cx="300000" cy="300000"/>
          </a:xfrm>
          <a:prstGeom prst="ellipse">
            <a:avLst/>
          </a:prstGeom>
          <a:solidFill>
            <a:srgbClr val="0E8A8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8" name="步骤说明 2"/>
          <p:cNvSpPr txBox="1"/>
          <p:nvPr/>
        </p:nvSpPr>
        <p:spPr>
          <a:xfrm>
            <a:off x="3041320" y="2890000"/>
            <a:ext cx="1903120" cy="30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5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10-13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会话 id 要能解出时间戳</a:t>
            </a:r>
          </a:p>
        </p:txBody>
      </p:sp>
      <p:sp>
        <p:nvSpPr>
          <p:cNvPr id="9" name="节点 3"/>
          <p:cNvSpPr/>
          <p:nvPr/>
        </p:nvSpPr>
        <p:spPr>
          <a:xfrm>
            <a:off x="5946000" y="2470000"/>
            <a:ext cx="300000" cy="300000"/>
          </a:xfrm>
          <a:prstGeom prst="ellipse">
            <a:avLst/>
          </a:prstGeom>
          <a:solidFill>
            <a:srgbClr val="0E8A8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10" name="步骤说明 3"/>
          <p:cNvSpPr txBox="1"/>
          <p:nvPr/>
        </p:nvSpPr>
        <p:spPr>
          <a:xfrm>
            <a:off x="5144440" y="2890000"/>
            <a:ext cx="1903120" cy="30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5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10-14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端点搬到 /inference/v1</a:t>
            </a:r>
          </a:p>
        </p:txBody>
      </p:sp>
      <p:sp>
        <p:nvSpPr>
          <p:cNvPr id="11" name="节点 4"/>
          <p:cNvSpPr/>
          <p:nvPr/>
        </p:nvSpPr>
        <p:spPr>
          <a:xfrm>
            <a:off x="8049120" y="2470000"/>
            <a:ext cx="300000" cy="300000"/>
          </a:xfrm>
          <a:prstGeom prst="ellipse">
            <a:avLst/>
          </a:prstGeom>
          <a:solidFill>
            <a:srgbClr val="0E8A8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12" name="步骤说明 4"/>
          <p:cNvSpPr txBox="1"/>
          <p:nvPr/>
        </p:nvSpPr>
        <p:spPr>
          <a:xfrm>
            <a:off x="7247560" y="2890000"/>
            <a:ext cx="1903120" cy="30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5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10-15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工具指纹涨到四个</a:t>
            </a:r>
          </a:p>
        </p:txBody>
      </p:sp>
      <p:sp>
        <p:nvSpPr>
          <p:cNvPr id="13" name="节点 5"/>
          <p:cNvSpPr/>
          <p:nvPr/>
        </p:nvSpPr>
        <p:spPr>
          <a:xfrm>
            <a:off x="10152240" y="2470000"/>
            <a:ext cx="300000" cy="300000"/>
          </a:xfrm>
          <a:prstGeom prst="ellipse">
            <a:avLst/>
          </a:prstGeom>
          <a:solidFill>
            <a:srgbClr val="0E8A8F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14" name="步骤说明 5"/>
          <p:cNvSpPr txBox="1"/>
          <p:nvPr/>
        </p:nvSpPr>
        <p:spPr>
          <a:xfrm>
            <a:off x="9350680" y="2890000"/>
            <a:ext cx="1903120" cy="303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5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10-16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实测又能用了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7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这一批的硬数字</a:t>
            </a:r>
          </a:p>
        </p:txBody>
      </p:sp>
      <p:sp>
        <p:nvSpPr>
          <p:cNvPr id="4" name="数字 1"/>
          <p:cNvSpPr txBox="1"/>
          <p:nvPr/>
        </p:nvSpPr>
        <p:spPr>
          <a:xfrm>
            <a:off x="898200" y="2398400"/>
            <a:ext cx="25089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E8A8F"/>
                </a:solidFill>
                <a:latin typeface="Calibri"/>
                <a:ea typeface="等线"/>
                <a:cs typeface="Calibri"/>
              </a:rPr>
              <a:t xml:space="preserve">1883</a:t>
            </a:r>
          </a:p>
        </p:txBody>
      </p:sp>
      <p:sp>
        <p:nvSpPr>
          <p:cNvPr id="5" name="说明 1"/>
          <p:cNvSpPr txBox="1"/>
          <p:nvPr/>
        </p:nvSpPr>
        <p:spPr>
          <a:xfrm>
            <a:off x="898200" y="3658400"/>
            <a:ext cx="25089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4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界面文案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三语 0 漂移</a:t>
            </a:r>
          </a:p>
        </p:txBody>
      </p:sp>
      <p:sp>
        <p:nvSpPr>
          <p:cNvPr id="6" name="数字 2"/>
          <p:cNvSpPr txBox="1"/>
          <p:nvPr/>
        </p:nvSpPr>
        <p:spPr>
          <a:xfrm>
            <a:off x="3527100" y="2398400"/>
            <a:ext cx="25089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E8A8F"/>
                </a:solidFill>
                <a:latin typeface="Calibri"/>
                <a:ea typeface="等线"/>
                <a:cs typeface="Calibri"/>
              </a:rPr>
              <a:t xml:space="preserve">4</a:t>
            </a:r>
          </a:p>
        </p:txBody>
      </p:sp>
      <p:sp>
        <p:nvSpPr>
          <p:cNvPr id="7" name="说明 2"/>
          <p:cNvSpPr txBox="1"/>
          <p:nvPr/>
        </p:nvSpPr>
        <p:spPr>
          <a:xfrm>
            <a:off x="3527100" y="3658400"/>
            <a:ext cx="25089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4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工具指纹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原来两个</a:t>
            </a:r>
          </a:p>
        </p:txBody>
      </p:sp>
      <p:cxnSp>
        <p:nvCxnSpPr>
          <p:cNvPr id="8" name="分隔 1"/>
          <p:cNvCxnSpPr/>
          <p:nvPr/>
        </p:nvCxnSpPr>
        <p:spPr>
          <a:xfrm>
            <a:off x="3467100" y="2020000"/>
            <a:ext cx="1" cy="3640000"/>
          </a:xfrm>
          <a:prstGeom prst="straightConnector1">
            <a:avLst/>
          </a:prstGeom>
          <a:ln w="12700" cap="flat" cmpd="sng" algn="ctr">
            <a:solidFill>
              <a:srgbClr val="D3E6E8"/>
            </a:solidFill>
            <a:prstDash val="solid"/>
            <a:miter lim="800000"/>
          </a:ln>
        </p:spPr>
      </p:cxnSp>
      <p:sp>
        <p:nvSpPr>
          <p:cNvPr id="9" name="数字 3"/>
          <p:cNvSpPr txBox="1"/>
          <p:nvPr/>
        </p:nvSpPr>
        <p:spPr>
          <a:xfrm>
            <a:off x="6156000" y="2398400"/>
            <a:ext cx="25089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E8A8F"/>
                </a:solidFill>
                <a:latin typeface="Calibri"/>
                <a:ea typeface="等线"/>
                <a:cs typeface="Calibri"/>
              </a:rPr>
              <a:t xml:space="preserve">12</a:t>
            </a:r>
          </a:p>
        </p:txBody>
      </p:sp>
      <p:sp>
        <p:nvSpPr>
          <p:cNvPr id="10" name="说明 3"/>
          <p:cNvSpPr txBox="1"/>
          <p:nvPr/>
        </p:nvSpPr>
        <p:spPr>
          <a:xfrm>
            <a:off x="6156000" y="3658400"/>
            <a:ext cx="25089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4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版式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从两种涨到十二种</a:t>
            </a:r>
          </a:p>
        </p:txBody>
      </p:sp>
      <p:cxnSp>
        <p:nvCxnSpPr>
          <p:cNvPr id="11" name="分隔 2"/>
          <p:cNvCxnSpPr/>
          <p:nvPr/>
        </p:nvCxnSpPr>
        <p:spPr>
          <a:xfrm>
            <a:off x="6096000" y="2020000"/>
            <a:ext cx="1" cy="3640000"/>
          </a:xfrm>
          <a:prstGeom prst="straightConnector1">
            <a:avLst/>
          </a:prstGeom>
          <a:ln w="12700" cap="flat" cmpd="sng" algn="ctr">
            <a:solidFill>
              <a:srgbClr val="D3E6E8"/>
            </a:solidFill>
            <a:prstDash val="solid"/>
            <a:miter lim="800000"/>
          </a:ln>
        </p:spPr>
      </p:cxnSp>
      <p:sp>
        <p:nvSpPr>
          <p:cNvPr id="12" name="数字 4"/>
          <p:cNvSpPr txBox="1"/>
          <p:nvPr/>
        </p:nvSpPr>
        <p:spPr>
          <a:xfrm>
            <a:off x="8784900" y="2398400"/>
            <a:ext cx="25089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E8A8F"/>
                </a:solidFill>
                <a:latin typeface="Calibri"/>
                <a:ea typeface="等线"/>
                <a:cs typeface="Calibri"/>
              </a:rPr>
              <a:t xml:space="preserve">-30</a:t>
            </a:r>
          </a:p>
        </p:txBody>
      </p:sp>
      <p:sp>
        <p:nvSpPr>
          <p:cNvPr id="13" name="说明 4"/>
          <p:cNvSpPr txBox="1"/>
          <p:nvPr/>
        </p:nvSpPr>
        <p:spPr>
          <a:xfrm>
            <a:off x="8784900" y="3658400"/>
            <a:ext cx="25089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zh-CN" altLang="en-US" sz="14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包体 MiB</a:t>
            </a:r>
          </a:p>
          <a:p>
            <a:pPr algn="ctr">
              <a:lnSpc>
                <a:spcPct val="130000"/>
              </a:lnSpc>
              <a:buNone/>
            </a:pPr>
            <a:r>
              <a:rPr lang="zh-CN" altLang="en-US" sz="11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运行环境外置</a:t>
            </a:r>
          </a:p>
        </p:txBody>
      </p:sp>
      <p:cxnSp>
        <p:nvCxnSpPr>
          <p:cNvPr id="14" name="分隔 3"/>
          <p:cNvCxnSpPr/>
          <p:nvPr/>
        </p:nvCxnSpPr>
        <p:spPr>
          <a:xfrm>
            <a:off x="8724900" y="2020000"/>
            <a:ext cx="1" cy="3640000"/>
          </a:xfrm>
          <a:prstGeom prst="straightConnector1">
            <a:avLst/>
          </a:prstGeom>
          <a:ln w="12700" cap="flat" cmpd="sng" algn="ctr">
            <a:solidFill>
              <a:srgbClr val="D3E6E8"/>
            </a:solidFill>
            <a:prstDash val="solid"/>
            <a:miter lim="800000"/>
          </a:ln>
        </p:spPr>
      </p:cxn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8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包体大小（MiB）</a:t>
            </a:r>
          </a:p>
        </p:txBody>
      </p:sp>
      <p:cxnSp>
        <p:nvCxnSpPr>
          <p:cNvPr id="4" name="基线"/>
          <p:cNvCxnSpPr/>
          <p:nvPr/>
        </p:nvCxnSpPr>
        <p:spPr>
          <a:xfrm>
            <a:off x="838200" y="5540000"/>
            <a:ext cx="10515600" cy="1"/>
          </a:xfrm>
          <a:prstGeom prst="straightConnector1">
            <a:avLst/>
          </a:prstGeom>
          <a:ln w="19050" cap="flat" cmpd="sng" algn="ctr">
            <a:solidFill>
              <a:srgbClr val="D3E6E8"/>
            </a:solidFill>
            <a:prstDash val="solid"/>
            <a:miter lim="800000"/>
          </a:ln>
        </p:spPr>
      </p:cxnSp>
      <p:sp>
        <p:nvSpPr>
          <p:cNvPr id="5" name="柱 1"/>
          <p:cNvSpPr/>
          <p:nvPr/>
        </p:nvSpPr>
        <p:spPr>
          <a:xfrm>
            <a:off x="2140800" y="1980000"/>
            <a:ext cx="900000" cy="3560000"/>
          </a:xfrm>
          <a:prstGeom prst="roundRect">
            <a:avLst>
              <a:gd name="adj" fmla="val 12000"/>
            </a:avLst>
          </a:prstGeom>
          <a:solidFill>
            <a:srgbClr val="0E8A8F"/>
          </a:solidFill>
          <a:ln>
            <a:noFill/>
          </a:ln>
        </p:spPr>
      </p:sp>
      <p:sp>
        <p:nvSpPr>
          <p:cNvPr id="6" name="柱值 1"/>
          <p:cNvSpPr txBox="1"/>
          <p:nvPr/>
        </p:nvSpPr>
        <p:spPr>
          <a:xfrm>
            <a:off x="2020800" y="1640000"/>
            <a:ext cx="11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106.3 MiB</a:t>
            </a:r>
          </a:p>
        </p:txBody>
      </p:sp>
      <p:sp>
        <p:nvSpPr>
          <p:cNvPr id="7" name="柱标签 1"/>
          <p:cNvSpPr txBox="1"/>
          <p:nvPr/>
        </p:nvSpPr>
        <p:spPr>
          <a:xfrm>
            <a:off x="898200" y="5600000"/>
            <a:ext cx="33852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0.74</a:t>
            </a:r>
          </a:p>
        </p:txBody>
      </p:sp>
      <p:sp>
        <p:nvSpPr>
          <p:cNvPr id="8" name="柱 2"/>
          <p:cNvSpPr/>
          <p:nvPr/>
        </p:nvSpPr>
        <p:spPr>
          <a:xfrm>
            <a:off x="5646000" y="2984704"/>
            <a:ext cx="900000" cy="2555296"/>
          </a:xfrm>
          <a:prstGeom prst="roundRect">
            <a:avLst>
              <a:gd name="adj" fmla="val 12000"/>
            </a:avLst>
          </a:prstGeom>
          <a:solidFill>
            <a:srgbClr val="0E8A8F"/>
          </a:solidFill>
          <a:ln>
            <a:noFill/>
          </a:ln>
        </p:spPr>
      </p:sp>
      <p:sp>
        <p:nvSpPr>
          <p:cNvPr id="9" name="柱值 2"/>
          <p:cNvSpPr txBox="1"/>
          <p:nvPr/>
        </p:nvSpPr>
        <p:spPr>
          <a:xfrm>
            <a:off x="5526000" y="2644704"/>
            <a:ext cx="11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76.3 MiB</a:t>
            </a:r>
          </a:p>
        </p:txBody>
      </p:sp>
      <p:sp>
        <p:nvSpPr>
          <p:cNvPr id="10" name="柱标签 2"/>
          <p:cNvSpPr txBox="1"/>
          <p:nvPr/>
        </p:nvSpPr>
        <p:spPr>
          <a:xfrm>
            <a:off x="4403400" y="5600000"/>
            <a:ext cx="33852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0.75</a:t>
            </a:r>
          </a:p>
        </p:txBody>
      </p:sp>
      <p:sp>
        <p:nvSpPr>
          <p:cNvPr id="11" name="柱 3"/>
          <p:cNvSpPr/>
          <p:nvPr/>
        </p:nvSpPr>
        <p:spPr>
          <a:xfrm>
            <a:off x="9151200" y="3865494"/>
            <a:ext cx="900000" cy="1674506"/>
          </a:xfrm>
          <a:prstGeom prst="roundRect">
            <a:avLst>
              <a:gd name="adj" fmla="val 12000"/>
            </a:avLst>
          </a:prstGeom>
          <a:solidFill>
            <a:srgbClr val="0E8A8F"/>
          </a:solidFill>
          <a:ln>
            <a:noFill/>
          </a:ln>
        </p:spPr>
      </p:sp>
      <p:sp>
        <p:nvSpPr>
          <p:cNvPr id="12" name="柱值 3"/>
          <p:cNvSpPr txBox="1"/>
          <p:nvPr/>
        </p:nvSpPr>
        <p:spPr>
          <a:xfrm>
            <a:off x="9031200" y="3525494"/>
            <a:ext cx="11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120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50 MiB</a:t>
            </a:r>
          </a:p>
        </p:txBody>
      </p:sp>
      <p:sp>
        <p:nvSpPr>
          <p:cNvPr id="13" name="柱标签 3"/>
          <p:cNvSpPr txBox="1"/>
          <p:nvPr/>
        </p:nvSpPr>
        <p:spPr>
          <a:xfrm>
            <a:off x="7908600" y="5600000"/>
            <a:ext cx="33852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buNone/>
            </a:pPr>
            <a:r>
              <a:rPr lang="zh-CN" altLang="en-US" sz="115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目标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9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各通道耗时（秒）</a:t>
            </a:r>
          </a:p>
        </p:txBody>
      </p:sp>
      <p:sp>
        <p:nvSpPr>
          <p:cNvPr id="4" name="标签 1"/>
          <p:cNvSpPr txBox="1"/>
          <p:nvPr/>
        </p:nvSpPr>
        <p:spPr>
          <a:xfrm>
            <a:off x="838200" y="1720000"/>
            <a:ext cx="26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3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raw.githubusercontent</a:t>
            </a:r>
          </a:p>
        </p:txBody>
      </p:sp>
      <p:sp>
        <p:nvSpPr>
          <p:cNvPr id="5" name="条 1"/>
          <p:cNvSpPr/>
          <p:nvPr/>
        </p:nvSpPr>
        <p:spPr>
          <a:xfrm>
            <a:off x="3598200" y="1887200"/>
            <a:ext cx="6855600" cy="380000"/>
          </a:xfrm>
          <a:prstGeom prst="roundRect">
            <a:avLst>
              <a:gd name="adj" fmla="val 30000"/>
            </a:avLst>
          </a:prstGeom>
          <a:solidFill>
            <a:srgbClr val="EEF6F7"/>
          </a:solidFill>
          <a:ln>
            <a:noFill/>
          </a:ln>
        </p:spPr>
      </p:sp>
      <p:sp>
        <p:nvSpPr>
          <p:cNvPr id="6" name="条值 1"/>
          <p:cNvSpPr/>
          <p:nvPr/>
        </p:nvSpPr>
        <p:spPr>
          <a:xfrm>
            <a:off x="3598200" y="1887200"/>
            <a:ext cx="1491728" cy="38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</p:sp>
      <p:sp>
        <p:nvSpPr>
          <p:cNvPr id="7" name="数值 1"/>
          <p:cNvSpPr txBox="1"/>
          <p:nvPr/>
        </p:nvSpPr>
        <p:spPr>
          <a:xfrm>
            <a:off x="10573800" y="1720000"/>
            <a:ext cx="78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25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0.47s</a:t>
            </a:r>
          </a:p>
        </p:txBody>
      </p:sp>
      <p:sp>
        <p:nvSpPr>
          <p:cNvPr id="8" name="标签 2"/>
          <p:cNvSpPr txBox="1"/>
          <p:nvPr/>
        </p:nvSpPr>
        <p:spPr>
          <a:xfrm>
            <a:off x="838200" y="2480000"/>
            <a:ext cx="26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3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jsDelivr</a:t>
            </a:r>
          </a:p>
        </p:txBody>
      </p:sp>
      <p:sp>
        <p:nvSpPr>
          <p:cNvPr id="9" name="条 2"/>
          <p:cNvSpPr/>
          <p:nvPr/>
        </p:nvSpPr>
        <p:spPr>
          <a:xfrm>
            <a:off x="3598200" y="2647200"/>
            <a:ext cx="6855600" cy="380000"/>
          </a:xfrm>
          <a:prstGeom prst="roundRect">
            <a:avLst>
              <a:gd name="adj" fmla="val 30000"/>
            </a:avLst>
          </a:prstGeom>
          <a:solidFill>
            <a:srgbClr val="EEF6F7"/>
          </a:solidFill>
          <a:ln>
            <a:noFill/>
          </a:ln>
        </p:spPr>
      </p:sp>
      <p:sp>
        <p:nvSpPr>
          <p:cNvPr id="10" name="条值 2"/>
          <p:cNvSpPr/>
          <p:nvPr/>
        </p:nvSpPr>
        <p:spPr>
          <a:xfrm>
            <a:off x="3598200" y="2647200"/>
            <a:ext cx="6855600" cy="38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</p:sp>
      <p:sp>
        <p:nvSpPr>
          <p:cNvPr id="11" name="数值 2"/>
          <p:cNvSpPr txBox="1"/>
          <p:nvPr/>
        </p:nvSpPr>
        <p:spPr>
          <a:xfrm>
            <a:off x="10573800" y="2480000"/>
            <a:ext cx="78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25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2.16s</a:t>
            </a:r>
          </a:p>
        </p:txBody>
      </p:sp>
      <p:sp>
        <p:nvSpPr>
          <p:cNvPr id="12" name="标签 3"/>
          <p:cNvSpPr txBox="1"/>
          <p:nvPr/>
        </p:nvSpPr>
        <p:spPr>
          <a:xfrm>
            <a:off x="838200" y="3240000"/>
            <a:ext cx="26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3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GitHub API</a:t>
            </a:r>
          </a:p>
        </p:txBody>
      </p:sp>
      <p:sp>
        <p:nvSpPr>
          <p:cNvPr id="13" name="条 3"/>
          <p:cNvSpPr/>
          <p:nvPr/>
        </p:nvSpPr>
        <p:spPr>
          <a:xfrm>
            <a:off x="3598200" y="3407200"/>
            <a:ext cx="6855600" cy="380000"/>
          </a:xfrm>
          <a:prstGeom prst="roundRect">
            <a:avLst>
              <a:gd name="adj" fmla="val 30000"/>
            </a:avLst>
          </a:prstGeom>
          <a:solidFill>
            <a:srgbClr val="EEF6F7"/>
          </a:solidFill>
          <a:ln>
            <a:noFill/>
          </a:ln>
        </p:spPr>
      </p:sp>
      <p:sp>
        <p:nvSpPr>
          <p:cNvPr id="14" name="条值 3"/>
          <p:cNvSpPr/>
          <p:nvPr/>
        </p:nvSpPr>
        <p:spPr>
          <a:xfrm>
            <a:off x="3598200" y="3407200"/>
            <a:ext cx="6665167" cy="380000"/>
          </a:xfrm>
          <a:prstGeom prst="roundRect">
            <a:avLst>
              <a:gd name="adj" fmla="val 30000"/>
            </a:avLst>
          </a:prstGeom>
          <a:solidFill>
            <a:srgbClr val="0E8A8F"/>
          </a:solidFill>
          <a:ln>
            <a:noFill/>
          </a:ln>
        </p:spPr>
      </p:sp>
      <p:sp>
        <p:nvSpPr>
          <p:cNvPr id="15" name="数值 3"/>
          <p:cNvSpPr txBox="1"/>
          <p:nvPr/>
        </p:nvSpPr>
        <p:spPr>
          <a:xfrm>
            <a:off x="10573800" y="3240000"/>
            <a:ext cx="78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250" b="1" dirty="0">
                <a:solidFill>
                  <a:srgbClr val="0A6165"/>
                </a:solidFill>
                <a:latin typeface="Calibri"/>
                <a:ea typeface="等线"/>
                <a:cs typeface="Calibri"/>
              </a:rPr>
              <a:t xml:space="preserve">2.1s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10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文案占比</a:t>
            </a:r>
          </a:p>
        </p:txBody>
      </p:sp>
      <p:sp>
        <p:nvSpPr>
          <p:cNvPr id="4" name="段 1"/>
          <p:cNvSpPr/>
          <p:nvPr/>
        </p:nvSpPr>
        <p:spPr>
          <a:xfrm>
            <a:off x="838200" y="2120000"/>
            <a:ext cx="6519672" cy="900000"/>
          </a:xfrm>
          <a:prstGeom prst="rect">
            <a:avLst/>
          </a:prstGeom>
          <a:solidFill>
            <a:srgbClr val="0E8A8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5" name="段内数值 1"/>
          <p:cNvSpPr txBox="1"/>
          <p:nvPr/>
        </p:nvSpPr>
        <p:spPr>
          <a:xfrm>
            <a:off x="838200" y="2120000"/>
            <a:ext cx="6519672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62%</a:t>
            </a:r>
          </a:p>
        </p:txBody>
      </p:sp>
      <p:sp>
        <p:nvSpPr>
          <p:cNvPr id="6" name="段 2"/>
          <p:cNvSpPr/>
          <p:nvPr/>
        </p:nvSpPr>
        <p:spPr>
          <a:xfrm>
            <a:off x="7357872" y="2120000"/>
            <a:ext cx="2103120" cy="900000"/>
          </a:xfrm>
          <a:prstGeom prst="rect">
            <a:avLst/>
          </a:prstGeom>
          <a:solidFill>
            <a:srgbClr val="0A616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7" name="段内数值 2"/>
          <p:cNvSpPr txBox="1"/>
          <p:nvPr/>
        </p:nvSpPr>
        <p:spPr>
          <a:xfrm>
            <a:off x="7357872" y="2120000"/>
            <a:ext cx="210312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20%</a:t>
            </a:r>
          </a:p>
        </p:txBody>
      </p:sp>
      <p:sp>
        <p:nvSpPr>
          <p:cNvPr id="8" name="段 3"/>
          <p:cNvSpPr/>
          <p:nvPr/>
        </p:nvSpPr>
        <p:spPr>
          <a:xfrm>
            <a:off x="9460992" y="2120000"/>
            <a:ext cx="1261872" cy="900000"/>
          </a:xfrm>
          <a:prstGeom prst="rect">
            <a:avLst/>
          </a:prstGeom>
          <a:solidFill>
            <a:srgbClr val="DCF0F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9" name="段内数值 3"/>
          <p:cNvSpPr txBox="1"/>
          <p:nvPr/>
        </p:nvSpPr>
        <p:spPr>
          <a:xfrm>
            <a:off x="9460992" y="2120000"/>
            <a:ext cx="1261872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ctr">
              <a:buNone/>
            </a:pPr>
            <a:r>
              <a:rPr lang="zh-CN" altLang="en-US" sz="13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12%</a:t>
            </a:r>
          </a:p>
        </p:txBody>
      </p:sp>
      <p:sp>
        <p:nvSpPr>
          <p:cNvPr id="10" name="段 4"/>
          <p:cNvSpPr/>
          <p:nvPr/>
        </p:nvSpPr>
        <p:spPr>
          <a:xfrm>
            <a:off x="10722864" y="2120000"/>
            <a:ext cx="630936" cy="900000"/>
          </a:xfrm>
          <a:prstGeom prst="rect">
            <a:avLst/>
          </a:prstGeom>
          <a:solidFill>
            <a:srgbClr val="78949A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</p:sp>
      <p:sp>
        <p:nvSpPr>
          <p:cNvPr id="11" name="图例色 1"/>
          <p:cNvSpPr/>
          <p:nvPr/>
        </p:nvSpPr>
        <p:spPr>
          <a:xfrm>
            <a:off x="838200" y="3380000"/>
            <a:ext cx="150000" cy="15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12" name="图例字 1"/>
          <p:cNvSpPr txBox="1"/>
          <p:nvPr/>
        </p:nvSpPr>
        <p:spPr>
          <a:xfrm>
            <a:off x="1058200" y="3320000"/>
            <a:ext cx="5794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1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中文 62</a:t>
            </a:r>
          </a:p>
        </p:txBody>
      </p:sp>
      <p:sp>
        <p:nvSpPr>
          <p:cNvPr id="13" name="图例色 2"/>
          <p:cNvSpPr/>
          <p:nvPr/>
        </p:nvSpPr>
        <p:spPr>
          <a:xfrm>
            <a:off x="1817600" y="3380000"/>
            <a:ext cx="150000" cy="150000"/>
          </a:xfrm>
          <a:prstGeom prst="rect">
            <a:avLst/>
          </a:prstGeom>
          <a:solidFill>
            <a:srgbClr val="0A6165"/>
          </a:solidFill>
          <a:ln>
            <a:noFill/>
          </a:ln>
        </p:spPr>
      </p:sp>
      <p:sp>
        <p:nvSpPr>
          <p:cNvPr id="14" name="图例字 2"/>
          <p:cNvSpPr txBox="1"/>
          <p:nvPr/>
        </p:nvSpPr>
        <p:spPr>
          <a:xfrm>
            <a:off x="2037600" y="3320000"/>
            <a:ext cx="5794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1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英语 20</a:t>
            </a:r>
          </a:p>
        </p:txBody>
      </p:sp>
      <p:sp>
        <p:nvSpPr>
          <p:cNvPr id="15" name="图例色 3"/>
          <p:cNvSpPr/>
          <p:nvPr/>
        </p:nvSpPr>
        <p:spPr>
          <a:xfrm>
            <a:off x="2797000" y="3380000"/>
            <a:ext cx="150000" cy="150000"/>
          </a:xfrm>
          <a:prstGeom prst="rect">
            <a:avLst/>
          </a:prstGeom>
          <a:solidFill>
            <a:srgbClr val="DCF0F0"/>
          </a:solidFill>
          <a:ln>
            <a:noFill/>
          </a:ln>
        </p:spPr>
      </p:sp>
      <p:sp>
        <p:nvSpPr>
          <p:cNvPr id="16" name="图例字 3"/>
          <p:cNvSpPr txBox="1"/>
          <p:nvPr/>
        </p:nvSpPr>
        <p:spPr>
          <a:xfrm>
            <a:off x="3017000" y="3320000"/>
            <a:ext cx="5794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1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日语 12</a:t>
            </a:r>
          </a:p>
        </p:txBody>
      </p:sp>
      <p:sp>
        <p:nvSpPr>
          <p:cNvPr id="17" name="图例色 4"/>
          <p:cNvSpPr/>
          <p:nvPr/>
        </p:nvSpPr>
        <p:spPr>
          <a:xfrm>
            <a:off x="3776400" y="3380000"/>
            <a:ext cx="150000" cy="150000"/>
          </a:xfrm>
          <a:prstGeom prst="rect">
            <a:avLst/>
          </a:prstGeom>
          <a:solidFill>
            <a:srgbClr val="78949A"/>
          </a:solidFill>
          <a:ln>
            <a:noFill/>
          </a:ln>
        </p:spPr>
      </p:sp>
      <p:sp>
        <p:nvSpPr>
          <p:cNvPr id="18" name="图例字 4"/>
          <p:cNvSpPr txBox="1"/>
          <p:nvPr/>
        </p:nvSpPr>
        <p:spPr>
          <a:xfrm>
            <a:off x="3996400" y="3320000"/>
            <a:ext cx="5794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11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韩语 6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11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6F7"/>
          </a:solidFill>
          <a:ln>
            <a:noFill/>
          </a:ln>
        </p:spPr>
      </p:sp>
      <p:sp>
        <p:nvSpPr>
          <p:cNvPr id="3" name="引号"/>
          <p:cNvSpPr txBox="1"/>
          <p:nvPr/>
        </p:nvSpPr>
        <p:spPr>
          <a:xfrm>
            <a:off x="838200" y="1400000"/>
            <a:ext cx="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buNone/>
            </a:pPr>
            <a:r>
              <a:rPr lang="zh-CN" altLang="en-US" sz="9600" b="1" dirty="0">
                <a:solidFill>
                  <a:srgbClr val="DCF0F0"/>
                </a:solidFill>
                <a:latin typeface="Calibri"/>
                <a:ea typeface="等线"/>
                <a:cs typeface="Calibri"/>
              </a:rPr>
              <a:t xml:space="preserve">“</a:t>
            </a:r>
          </a:p>
        </p:txBody>
      </p:sp>
      <p:sp>
        <p:nvSpPr>
          <p:cNvPr id="4" name="引文"/>
          <p:cNvSpPr txBox="1"/>
          <p:nvPr/>
        </p:nvSpPr>
        <p:spPr>
          <a:xfrm>
            <a:off x="1238200" y="2260000"/>
            <a:ext cx="9315600" cy="2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42000"/>
              </a:lnSpc>
              <a:buNone/>
            </a:pPr>
            <a:r>
              <a:rPr lang="zh-CN" altLang="en-US" sz="2400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把排版交给引擎，把内容留给模型。</a:t>
            </a:r>
          </a:p>
        </p:txBody>
      </p:sp>
      <p:sp>
        <p:nvSpPr>
          <p:cNvPr id="5" name="出处"/>
          <p:cNvSpPr txBox="1"/>
          <p:nvPr/>
        </p:nvSpPr>
        <p:spPr>
          <a:xfrm>
            <a:off x="1238200" y="4600000"/>
            <a:ext cx="93156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buNone/>
            </a:pPr>
            <a:r>
              <a:rPr lang="zh-CN" altLang="en-US" sz="13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—— 这一轮的设计原则</a:t>
            </a:r>
          </a:p>
        </p:txBody>
      </p:sp>
      <p:sp>
        <p:nvSpPr>
          <p:cNvPr id="6" name="竖线"/>
          <p:cNvSpPr/>
          <p:nvPr/>
        </p:nvSpPr>
        <p:spPr>
          <a:xfrm>
            <a:off x="1038200" y="2300000"/>
            <a:ext cx="60000" cy="210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条"/>
          <p:cNvSpPr/>
          <p:nvPr/>
        </p:nvSpPr>
        <p:spPr>
          <a:xfrm>
            <a:off x="838200" y="740000"/>
            <a:ext cx="76000" cy="460000"/>
          </a:xfrm>
          <a:prstGeom prst="rect">
            <a:avLst/>
          </a:prstGeom>
          <a:solidFill>
            <a:srgbClr val="0E8A8F"/>
          </a:solidFill>
          <a:ln>
            <a:noFill/>
          </a:ln>
        </p:spPr>
      </p:sp>
      <p:sp>
        <p:nvSpPr>
          <p:cNvPr id="3" name="标题"/>
          <p:cNvSpPr txBox="1"/>
          <p:nvPr/>
        </p:nvSpPr>
        <p:spPr>
          <a:xfrm>
            <a:off x="1038200" y="620000"/>
            <a:ext cx="103156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0E2F35"/>
                </a:solidFill>
                <a:latin typeface="Calibri"/>
                <a:ea typeface="等线"/>
                <a:cs typeface="Calibri"/>
              </a:rPr>
              <a:t xml:space="preserve">内容很多的一页（测自动分页）</a:t>
            </a:r>
          </a:p>
        </p:txBody>
      </p:sp>
      <p:sp>
        <p:nvSpPr>
          <p:cNvPr id="4" name="正文"/>
          <p:cNvSpPr txBox="1"/>
          <p:nvPr/>
        </p:nvSpPr>
        <p:spPr>
          <a:xfrm>
            <a:off x="838200" y="1720000"/>
            <a:ext cx="10515600" cy="42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第一条：这一页故意塞了很多内容，用来验证放不下时会自动拆成续页，而不是把字压在版心外面。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第二条：序号从 2 开始的每一条都挺长，长到一行放不下，必须折行；折行之后高度还要算对。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第三条：中文一行大约三十来个字，其余的都是用来撑高度的填充内容，please ignore the semantics here.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第四条：这是一条比较长的要点，用来把第一页撑到放不下为止，好让续页真的出现。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第五条：续页会带上「（续）」后缀，标题还是同一个，正文接着上一页继续。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第六条：如果续页也放不下，会再拆一页 —— 拆页最多十二轮，防止死循环。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第七条：字号阶梯是 18 / 16 / 15 / 14 / 13 / 12 / 11 / 10.5 / 10 / 9.5，逐档往下试。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第八条：都没试成功才拆页 —— 顺序是「先缩字号、再拆页」，因为缩字号更不打扰读者。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第九条：这一条是为了把高度彻底撑满，让分页逻辑必须真的动手。</a:t>
            </a:r>
          </a:p>
          <a:p>
            <a:pPr marL="260000" indent="-13716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>
                <a:solidFill>
                  <a:srgbClr val="0E8A8F"/>
                </a:solidFill>
              </a:buClr>
              <a:buFont typeface="Arial"/>
              <a:buChar char="●"/>
            </a:pPr>
            <a:r>
              <a:rPr lang="zh-CN" altLang="en-US" sz="1800" dirty="0">
                <a:solidFill>
                  <a:srgbClr val="2C545C"/>
                </a:solidFill>
                <a:latin typeface="Calibri"/>
                <a:ea typeface="等线"/>
                <a:cs typeface="Calibri"/>
              </a:rPr>
              <a:t xml:space="preserve">第十条：最后的收尾 —— 如果这段出现在第二页的开头，说明分页与续页标题都对。</a:t>
            </a:r>
          </a:p>
        </p:txBody>
      </p:sp>
      <p:sp>
        <p:nvSpPr>
          <p:cNvPr id="900" name="页脚"/>
          <p:cNvSpPr txBox="1"/>
          <p:nvPr/>
        </p:nvSpPr>
        <p:spPr>
          <a:xfrm>
            <a:off x="838200" y="6180000"/>
            <a:ext cx="98156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手机版 DSH · 内部说明</a:t>
            </a:r>
          </a:p>
        </p:txBody>
      </p:sp>
      <p:sp>
        <p:nvSpPr>
          <p:cNvPr id="901" name="页码"/>
          <p:cNvSpPr txBox="1"/>
          <p:nvPr/>
        </p:nvSpPr>
        <p:spPr>
          <a:xfrm>
            <a:off x="10753800" y="618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rot="0">
            <a:normAutofit/>
          </a:bodyPr>
          <a:lstStyle/>
          <a:p>
            <a:pPr algn="r">
              <a:buNone/>
            </a:pPr>
            <a:r>
              <a:rPr lang="zh-CN" altLang="en-US" sz="900" dirty="0">
                <a:solidFill>
                  <a:srgbClr val="78949A"/>
                </a:solidFill>
                <a:latin typeface="Calibri"/>
                <a:ea typeface="等线"/>
                <a:cs typeface="Calibri"/>
              </a:rPr>
              <a:t xml:space="preserve">13 / 14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底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6165"/>
          </a:solidFill>
          <a:ln>
            <a:noFill/>
          </a:ln>
        </p:spPr>
      </p:sp>
      <p:sp>
        <p:nvSpPr>
          <p:cNvPr id="3" name="结语"/>
          <p:cNvSpPr txBox="1"/>
          <p:nvPr/>
        </p:nvSpPr>
        <p:spPr>
          <a:xfrm>
            <a:off x="838200" y="2500000"/>
            <a:ext cx="105156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rot="0">
            <a:normAutofit/>
          </a:bodyPr>
          <a:lstStyle/>
          <a:p>
            <a:pPr algn="ctr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Calibri"/>
                <a:ea typeface="等线"/>
                <a:cs typeface="Calibri"/>
              </a:rPr>
              <a:t xml:space="preserve">谢谢</a:t>
            </a:r>
          </a:p>
        </p:txBody>
      </p:sp>
      <p:sp>
        <p:nvSpPr>
          <p:cNvPr id="4" name="结语副标题"/>
          <p:cNvSpPr txBox="1"/>
          <p:nvPr/>
        </p:nvSpPr>
        <p:spPr>
          <a:xfrm>
            <a:off x="838200" y="3860000"/>
            <a:ext cx="10515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rot="0">
            <a:normAutofit/>
          </a:bodyPr>
          <a:lstStyle/>
          <a:p>
            <a:pPr algn="ctr">
              <a:buNone/>
            </a:pPr>
            <a:r>
              <a:rPr lang="zh-CN" altLang="en-US" sz="1500" dirty="0">
                <a:solidFill>
                  <a:srgbClr val="DCF0F0"/>
                </a:solidFill>
                <a:latin typeface="Calibri"/>
                <a:ea typeface="等线"/>
                <a:cs typeface="Calibri"/>
              </a:rPr>
              <a:t xml:space="preserve">有问题随时说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DSH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等线"/>
        <a:cs typeface=""/>
        <a:font script="Hans" typeface="等线"/>
        <a:font script="Hant" typeface="新細明體"/>
        <a:font script="Jpan" typeface="ＭＳ Ｐゴシック"/>
        <a:font script="Hang" typeface="맑은 고딕"/>
      </a:majorFont>
      <a:minorFont>
        <a:latin typeface="Calibri"/>
        <a:ea typeface="等线"/>
        <a:cs typeface=""/>
        <a:font script="Hans" typeface="等线"/>
        <a:font script="Hant" typeface="新細明體"/>
        <a:font script="Jpan" typeface="ＭＳ Ｐゴシック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手机版 DSH 的一页纸说明</dc:title>
  <dc:subject/>
  <dc:creator>泡泡猫 DSH</dc:creator>
  <cp:keywords/>
  <dc:description>从 0.75 到现在的这一批改动</dc:description>
  <cp:lastModifiedBy>泡泡猫 DSH</cp:lastModifiedBy>
  <cp:revision>1</cp:revision>
  <dcterms:created xsi:type="dcterms:W3CDTF">2026-10-16T05:05:00Z</dcterms:created>
  <dcterms:modified xsi:type="dcterms:W3CDTF">2026-10-16T05:05:00Z</dcterms:modified>
  <cp:category/>
  <cp:contentStatus/>
</cp:coreProperties>
</file>